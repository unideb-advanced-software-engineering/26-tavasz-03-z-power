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44" y="1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499A-E020-47FC-B5F1-670F8A7BE3BC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02B96E-1684-440C-AD2C-C87ABD36814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9374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95F907-79EF-E3C4-BF3A-211895418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E1EA6D1-8853-A022-9232-3AC46F32D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FA5FBC8-003C-66AE-C6E6-23A2A502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F63D2A4-2321-0F52-D481-8F5B71F7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7924EB-C964-CD88-33BE-C16F4ACA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7439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27C7AB-D0D1-8AE5-F7B9-D5C06D47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5B028C-C86E-C9E7-D9A5-35F8DF41E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D60AC73-21D7-1588-E6D3-DCA0D9B1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5097B3C-0507-509A-3BE4-9C3617CB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BE1BF95-470D-CB29-CEED-0DA23FC7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7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D8BBB2-3347-0800-05EF-B52C71C1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DB81025-3929-036F-B46B-AA311421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54B94D-F3D3-82ED-250C-04FCB5645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9A8839E-E950-B968-CA21-DCDF2067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BECB18B-8929-886E-6119-9FB3074E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9996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13F57B-DFBA-0102-17D8-642E68A6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07ECD62-9288-F492-B888-9FBD0DC32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4F2B8F3-83C7-073B-DA1B-8CACE914A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47B603B-4AC8-0DF8-C7A9-E9AA0941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098D673-D7BD-409D-EE53-F331F16E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DEE6255-1D7F-D5B1-5577-78A6971E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459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87D44A-B020-140B-39DF-3DBC982D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BA2534D-04A5-6355-7232-448DCABED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B8F3474-8FC6-146B-B2BF-9E9E96644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445B45F-BC07-BE55-F2FC-1D22ECD76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AB00F1BE-4E83-4ABE-D6B7-E45D52039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5ECD8C45-280B-6B98-AFB2-AE38CFB1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E1A2646-5E88-5920-86A6-7BF20AAED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BE4EAF0-3082-E989-D7C4-04C7C593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3350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DF385C-2519-A2CF-9D2F-85D0B935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2EE089D-E246-0F31-ECC4-72A766A6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65A4341-C4C0-589E-E2D4-EDC2BBE56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5FFC4B1-532A-3C79-848B-0568CB10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679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A3BF70E-AC6B-9553-B26F-561DB55D5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D557F9F-633E-EA82-D053-BA2A86624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629048C-816B-D737-220A-98219CCC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607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15FBFD-F831-2B32-69D1-52862B7F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26B9E1-018F-74CB-265E-77BDD1873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DD15C52-4D7E-357B-F8F7-077CFAEFF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52F4914-03EC-F61C-A23F-81046547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9FC9749-224F-FCE7-F767-E205656F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B86FC01-211F-A55E-BC90-050EE419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543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E1E8A27-6731-39AC-D071-03E8CC43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E64E4AE-248A-7E25-8C3D-669424E13F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182D6CD-B47A-2640-4F66-B34EEC9C2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AD8842D-4DE4-3F85-E068-55342D5B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A8B4EFC-A915-0BEA-F96F-C7E98DAF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605A487-5EE6-1060-6FE9-782B0871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731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6DB2240-6F03-478D-4AB6-04B077E4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20C50B5-0ADF-6E95-437D-43AC0462A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6D98EA7-7FD8-E88F-2C79-304DE970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CEF05C5-10EB-0927-9A25-9522F96F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852B3D6-AB00-1BE2-8FB0-481B7306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267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E900757-C855-E815-B50C-DA3689B5C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450CF73-22CF-E25C-7A75-C28460529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C0DB349-9E0D-9FDC-FD60-7C36EB1A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4D8F2AB-5D19-E218-6836-E80481C2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D9B85C3-B3C0-234C-2AB8-47520E183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7730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4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0ACD53C-EE23-E6A8-D6B3-A7346033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DC50B90-6D27-EDD3-D1AE-0DD71911B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35A735C-3196-0A9B-8C5F-03FCA4C32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E0B56-D2BF-475F-A11F-68E27BA53CE9}" type="datetimeFigureOut">
              <a:rPr lang="hu-HU" smtClean="0"/>
              <a:t>2026. 05. 12.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086DB7-536C-30FC-AD81-431EB1668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B03327-9403-685C-9510-B08EA36B4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34C94-0D40-40E0-874D-6344B922AE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5356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454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876800" cy="4876800"/>
          </a:xfrm>
          <a:prstGeom prst="ellipse">
            <a:avLst/>
          </a:prstGeom>
          <a:solidFill>
            <a:srgbClr val="1B433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7440" y="-975360"/>
            <a:ext cx="3048000" cy="3048000"/>
          </a:xfrm>
          <a:prstGeom prst="ellipse">
            <a:avLst/>
          </a:prstGeom>
          <a:solidFill>
            <a:srgbClr val="2D6A4F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" y="975360"/>
            <a:ext cx="853440" cy="853440"/>
          </a:xfrm>
          <a:prstGeom prst="rect">
            <a:avLst/>
          </a:prstGeom>
          <a:noFill/>
        </p:spPr>
      </p:pic>
      <p:sp>
        <p:nvSpPr>
          <p:cNvPr id="5" name="Text 2"/>
          <p:cNvSpPr/>
          <p:nvPr/>
        </p:nvSpPr>
        <p:spPr>
          <a:xfrm>
            <a:off x="975360" y="2072640"/>
            <a:ext cx="975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69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Z-Power</a:t>
            </a:r>
            <a:endParaRPr lang="en-US" sz="6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975360" y="341376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Megújuló energia monitorozó platform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75360" y="4389120"/>
            <a:ext cx="3048000" cy="4876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Text 5"/>
          <p:cNvSpPr/>
          <p:nvPr/>
        </p:nvSpPr>
        <p:spPr>
          <a:xfrm>
            <a:off x="975360" y="4693920"/>
            <a:ext cx="7315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7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Zamunda Digitális Reneszánsz (ZDR) program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975360" y="5730240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7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Perjési Fanni  ·  Jakab Ács Eszter  ·  Tóth Áron Pál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Kontextus és probléma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3440" y="1706880"/>
            <a:ext cx="646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507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804416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Zamunda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828800" y="2218944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Megújuló energiára épít (nap, szél), de a termelés időjárásfüggő és ingadozó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53440" y="3230880"/>
            <a:ext cx="646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4747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3328416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Növekedés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828800" y="3742944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Néhány száz nagy + több tízezer kis termelő — a GreenGrant miatt bármikor megugorhat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53440" y="4754880"/>
            <a:ext cx="64617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9987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4852416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Korlátok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828800" y="5266944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Gyenge internet egyes területeken, takarékosság és klímabarát működés elvárása (ZDR)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680960" y="1706880"/>
            <a:ext cx="4023360" cy="4572000"/>
          </a:xfrm>
          <a:prstGeom prst="rect">
            <a:avLst/>
          </a:prstGeom>
          <a:solidFill>
            <a:srgbClr val="1B433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2072640"/>
            <a:ext cx="609600" cy="609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46720" y="280416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probléma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046720" y="3413760"/>
            <a:ext cx="329184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egységes platform, ahol a megújuló energiatermelők adatait gyűjtik, az üzemzavarokat figyelik, és előrejelzéseket készítenek az energiahálózat számára.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48768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a Z-Power?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158240"/>
            <a:ext cx="7315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i="1" dirty="0">
                <a:solidFill>
                  <a:srgbClr val="7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6 fő funkciója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3440" y="1828800"/>
            <a:ext cx="5242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3440" y="1828800"/>
            <a:ext cx="73152" cy="128016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2097024"/>
            <a:ext cx="487680" cy="48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6336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Adatbefogadás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1828800" y="2340864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Heterogén sémák fogadása REST API-n és MQTT-n, normalizálás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61760" y="1828800"/>
            <a:ext cx="5242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1760" y="1828800"/>
            <a:ext cx="73152" cy="128016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097024"/>
            <a:ext cx="487680" cy="487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37120" y="1926336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Üzemzavar-felismerés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437120" y="2340864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Automatikus detekció küldési mintázat és termelési értékek alapján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53440" y="3352800"/>
            <a:ext cx="5242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3440" y="3352800"/>
            <a:ext cx="73152" cy="128016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240" y="3621024"/>
            <a:ext cx="487680" cy="4876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450336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dashboard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828800" y="3864864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Térkép-alapú megjelenítés, közel valós idejű frissítés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61760" y="3352800"/>
            <a:ext cx="5242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760" y="3352800"/>
            <a:ext cx="73152" cy="128016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621024"/>
            <a:ext cx="487680" cy="487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7120" y="3450336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Historikus analitika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437120" y="3864864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Trendek, összehasonlítások, szűrhető idősoros grafikonok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53440" y="4876800"/>
            <a:ext cx="5242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53440" y="4876800"/>
            <a:ext cx="73152" cy="128016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" y="5145024"/>
            <a:ext cx="487680" cy="4876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4974336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Nyilvános adatexport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1828800" y="5388864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export kutatóintézetek és hivatalok számára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461760" y="4876800"/>
            <a:ext cx="52425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61760" y="4876800"/>
            <a:ext cx="73152" cy="128016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5145024"/>
            <a:ext cx="487680" cy="4876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37120" y="4974336"/>
            <a:ext cx="39014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Előrejelzés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437120" y="5388864"/>
            <a:ext cx="3901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Historikus + időjárási adatokból, 24–72 órás termelési előrejelzés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4267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rendszer egyetlen legfontosabb követelménye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3440" y="1402080"/>
            <a:ext cx="10485120" cy="1097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853440" y="1402080"/>
            <a:ext cx="85344" cy="10972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1341120" y="1402080"/>
            <a:ext cx="975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i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„A termelési adatok újbóli elküldésére nincs mód.”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440" y="2682240"/>
            <a:ext cx="104851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egy adat elvész, az végleges. Ha a rendszer nem elérhető, az is adatvesztés.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733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az egyetlen mondat határozza meg az egész architektúrát.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3440" y="3901440"/>
            <a:ext cx="2438400" cy="243840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880" y="4145280"/>
            <a:ext cx="670560" cy="67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6320" y="4998720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Megbízhatóság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6320" y="5486400"/>
            <a:ext cx="2072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adat a beérkezéstől biztonságban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535680" y="3901440"/>
            <a:ext cx="2438400" cy="243840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4145280"/>
            <a:ext cx="670560" cy="6705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18560" y="4998720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Rendelkezésre állás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718560" y="5486400"/>
            <a:ext cx="2072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7/24, 99,9%+, zero-downtime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17920" y="3901440"/>
            <a:ext cx="2438400" cy="243840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60" y="4145280"/>
            <a:ext cx="670560" cy="6705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4998720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Skálázhatóság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400800" y="5486400"/>
            <a:ext cx="2072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Termelők száma kiszámíthatatlan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900160" y="3901440"/>
            <a:ext cx="2438400" cy="243840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0" y="4145280"/>
            <a:ext cx="670560" cy="6705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83040" y="4998720"/>
            <a:ext cx="2072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Rugalmas bővíthetőség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9083040" y="5486400"/>
            <a:ext cx="2072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séma, új energiaforrások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4267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Hibrid architektúra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097280"/>
            <a:ext cx="104851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7A9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kettő? Egyetlen stílus nem tudja mindkét oldal igényeit optimálisan kielégíteni.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3440" y="1828800"/>
            <a:ext cx="512064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3440" y="1828800"/>
            <a:ext cx="5120640" cy="6705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4632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268224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Adatbefogadás és feldolgozás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169920"/>
            <a:ext cx="4632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Üzenetsor-alapú pufferelés — adat azonnal biztonságban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Horizontális skálázhatóság consumerekkel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Laza csatolás: új séma = új consumer, meglévő rendszer érintetlen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üzemzavar-detekció és riasztás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4511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28800"/>
            <a:ext cx="5120640" cy="6705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6461760" y="1828800"/>
            <a:ext cx="46329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Architecture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61760" y="268224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Megjelenítés, analitika, export, előrejelzés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61760" y="3169920"/>
            <a:ext cx="4632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Plugin-alapú bővíthetőség (dashboard, analitika, export, előrejelzés)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Alacsonyabb költség, jobb tesztelhetőség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Előrejelzési modul önállóan frissíthető (ML modell, API csere)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1467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Költséghatékony: ZDR takarékossági elv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Rendszerfelépítés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600" y="1280160"/>
            <a:ext cx="560832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09600" y="1280160"/>
            <a:ext cx="5608320" cy="48768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Adatbefogadás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889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533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Gateway + MQTT Broker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3440" y="2596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Raw Ingestion Topic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3440" y="33040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Normalizer  ←  Schema Registry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3440" y="4011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Normalized Topic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3440" y="47183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Persistence Worker → TimescaleDB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3440" y="5425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Fault Detector → Notification Svc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61760" y="1280160"/>
            <a:ext cx="5242560" cy="3169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61760" y="1280160"/>
            <a:ext cx="5242560" cy="48768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 — Megjelenítés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05600" y="1889760"/>
            <a:ext cx="4754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→ Microkernel Core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0560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Pluginek: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0560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 ·  Analitika  ·  Export  ·  Előrejelzés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05600" y="3291840"/>
            <a:ext cx="47548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API — dedikált réteg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diszpécserközpont számára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61760" y="4693920"/>
            <a:ext cx="5242560" cy="1706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61760" y="4693920"/>
            <a:ext cx="5242560" cy="487680"/>
          </a:xfrm>
          <a:prstGeom prst="rect">
            <a:avLst/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adattároló — „right tool for the right job”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05600" y="5242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— idősor termelési adatok (replikált)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felhasználók, konfiguráció, sémaregiszter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533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— nyilvános CSV/JSON export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4267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Legfontosabb döntések (ADR-ek)</a:t>
            </a:r>
            <a:endParaRPr lang="en-US" sz="4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3440" y="1402080"/>
            <a:ext cx="1048512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3440" y="1402080"/>
            <a:ext cx="1584960" cy="1219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853440" y="1402080"/>
            <a:ext cx="15849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82240" y="1499616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Hibrid architektúra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82240" y="1950720"/>
            <a:ext cx="8290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alrendszer a saját igényeihez legjobban illő stílust kapja (EDA + Microkernel)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53440" y="2682240"/>
            <a:ext cx="1048512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3440" y="2682240"/>
            <a:ext cx="1584960" cy="1219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853440" y="2682240"/>
            <a:ext cx="15849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82240" y="2779776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Adattárolók szétválasztása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82240" y="3230880"/>
            <a:ext cx="8290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különböző tároló a 3 különböző adattípushoz — optimális teljesítmény rétegenként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3440" y="3962400"/>
            <a:ext cx="10485120" cy="1219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3440" y="3962400"/>
            <a:ext cx="1584960" cy="12192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853440" y="3962400"/>
            <a:ext cx="15849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ADR-005/006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82240" y="4059936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Skálázási topológia evolúciója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682240" y="4511040"/>
            <a:ext cx="8290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Kritikus komponensek több példányban, de a Persistence Worker egyetlen instance a sorrend megőrzéséért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3440" y="5242560"/>
            <a:ext cx="10485120" cy="12192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266944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Tudatosan vállalt kompromisszumok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280" y="5608320"/>
            <a:ext cx="999744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 defTabSz="1219170">
              <a:spcAft>
                <a:spcPts val="2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Magasabb rendszerkomplexitás — két stílus párhuzamos üzemeltetése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2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Eltérő szakértelem igény alrendszerenként (EDA: broker ops, Microkernel: plugin API)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L="457189" indent="-457189" defTabSz="1219170">
              <a:spcAft>
                <a:spcPts val="267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344E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Magasabb dokumentációs és kommunikációs teher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4876800" cy="4876800"/>
          </a:xfrm>
          <a:prstGeom prst="ellipse">
            <a:avLst/>
          </a:prstGeom>
          <a:solidFill>
            <a:srgbClr val="1B433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219200"/>
            <a:ext cx="4267200" cy="4267200"/>
          </a:xfrm>
          <a:prstGeom prst="ellipse">
            <a:avLst/>
          </a:prstGeom>
          <a:solidFill>
            <a:srgbClr val="1B4332">
              <a:alpha val="3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19200"/>
            <a:ext cx="975360" cy="975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200" y="2316480"/>
            <a:ext cx="975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5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Z-Power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1828800" y="3535680"/>
            <a:ext cx="853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Megbízható, skálázható, bővíthető platform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2133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Zamunda megújuló energiatermelésének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2133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monitorozására és előrejelzésére.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120640" y="5242560"/>
            <a:ext cx="1950720" cy="4876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Text 5"/>
          <p:cNvSpPr/>
          <p:nvPr/>
        </p:nvSpPr>
        <p:spPr>
          <a:xfrm>
            <a:off x="1219200" y="554736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 a </a:t>
            </a:r>
            <a:r>
              <a:rPr lang="en-US" sz="2400" dirty="0" err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figyelmet</a:t>
            </a:r>
            <a:r>
              <a:rPr lang="hu-HU" sz="24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515</Words>
  <Application>Microsoft Office PowerPoint</Application>
  <PresentationFormat>Szélesvásznú</PresentationFormat>
  <Paragraphs>98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2</vt:i4>
      </vt:variant>
      <vt:variant>
        <vt:lpstr>Diacímek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Office-téma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Tóth Áron Pál</dc:creator>
  <cp:lastModifiedBy>Tóth Áron Pál</cp:lastModifiedBy>
  <cp:revision>3</cp:revision>
  <dcterms:created xsi:type="dcterms:W3CDTF">2026-05-12T18:14:48Z</dcterms:created>
  <dcterms:modified xsi:type="dcterms:W3CDTF">2026-05-12T18:18:22Z</dcterms:modified>
</cp:coreProperties>
</file>